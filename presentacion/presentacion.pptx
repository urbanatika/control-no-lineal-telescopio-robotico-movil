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Control No Lineal Multi-Estrategia para un
Telescopio Robótico Móvil</a:t>
            </a:r>
          </a:p>
          <a:p>
            <a:pPr>
              <a:spcBef>
                <a:spcPts val="1600"/>
              </a:spcBef>
            </a:pPr>
            <a:r>
              <a:rPr sz="1800">
                <a:solidFill>
                  <a:srgbClr val="C8D0E0"/>
                </a:solidFill>
              </a:rPr>
              <a:t>Adaptativo-Lyapunov + EKF vs. SMC vs. MPC vs. Neuro-Difuso ante perturbación sísmica, viento y vibración de base móvil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7607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AAB4C8"/>
                </a:solidFill>
              </a:rPr>
              <a:t>Mag. Diego N. Elorza-Rivera  ·  Jorge Esper
Universidad Andrés Bello — Facultad de Ingeniería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  <a:latin typeface="Calibri"/>
              </a:rPr>
              <a:t>De la antena fija de ALMA al telescopio robótico móvil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Trabajo base: antena ALMA de 12 m (~100 t) — control Adaptativo-Lyapunov + feedforward sísmico + EKF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Nuevo desafío: robot móvil + brazo alt-azimutal de 2 GDL sosteniendo un instrumento óptico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Inercia mucho menor (J ~ 1–3 kg·m²) → misma perturbación produce error angular relativo mucho mayor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Nuevo canal de perturbación: microvibración de terreno/ruedas (5–50 Hz), sin análogo en el trabajo original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Pregunta de investigación: ¿qué ley de control resiste mejor esta combinación de perturbaciones?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  <a:latin typeface="Calibri"/>
              </a:rPr>
              <a:t>Modelo dinámico: manipulador alt-azimutal de 2 GDL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Extensión vectorial de Euler-Lagrange (ec. 1 del trabajo base) a acimut (q1) + elevación (q2)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Acoplamiento inercial J1(q2) = J1,0 + J1,c·cos²(q2)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Perturbación total por eje: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τ_s = Fs·ẍg(t)  — sísmico (feedforward vía acelerómetro de fundación)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τ_v — viento, proceso de Gauss-Markov de 1er orden (idéntico al trabajo base)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NUEVO: microvibración de terreno — ruido banda 5–50 Hz, NO compensado por feedforward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Escenario: 60 s, perfil multi-evento — Basal / Coquimbo 2015 / Chiloé 2016 / Melipilla 2017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  <a:latin typeface="Calibri"/>
              </a:rPr>
              <a:t>Cuatro leyes de control, un EKF de fusión sensorial común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2697480" cy="4206240"/>
          </a:xfrm>
          <a:prstGeom prst="roundRect">
            <a:avLst/>
          </a:prstGeom>
          <a:solidFill>
            <a:srgbClr val="F2F3F7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/>
            <a:r>
              <a:rPr sz="1600" b="1">
                <a:solidFill>
                  <a:srgbClr val="1B2A4A"/>
                </a:solidFill>
              </a:rPr>
              <a:t>A. Adaptativo-Lyapunov</a:t>
            </a:r>
          </a:p>
          <a:p>
            <a:pPr>
              <a:spcBef>
                <a:spcPts val="1000"/>
              </a:spcBef>
            </a:pPr>
            <a:r>
              <a:rPr sz="1250">
                <a:solidFill>
                  <a:srgbClr val="333333"/>
                </a:solidFill>
              </a:rPr>
              <a:t>Extensión directa del trabajo base.
Ley de adaptación paramétrica
θ̇ = -Γ Yᵀs. Compensa error
de modelo por convergencia.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554480"/>
            <a:ext cx="2697480" cy="4206240"/>
          </a:xfrm>
          <a:prstGeom prst="roundRect">
            <a:avLst/>
          </a:prstGeom>
          <a:solidFill>
            <a:srgbClr val="F2F3F7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/>
            <a:r>
              <a:rPr sz="1600" b="1">
                <a:solidFill>
                  <a:srgbClr val="1B2A4A"/>
                </a:solidFill>
              </a:rPr>
              <a:t>B. SMC Super-Twisting</a:t>
            </a:r>
          </a:p>
          <a:p>
            <a:pPr>
              <a:spcBef>
                <a:spcPts val="1000"/>
              </a:spcBef>
            </a:pPr>
            <a:r>
              <a:rPr sz="1250">
                <a:solidFill>
                  <a:srgbClr val="333333"/>
                </a:solidFill>
              </a:rPr>
              <a:t>Modos deslizantes de 2° orden
(Moreno &amp; Osorio 2012). Robusto
sin adaptación; reduce chattering
respecto al SMC clásico.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2697480" cy="4206240"/>
          </a:xfrm>
          <a:prstGeom prst="roundRect">
            <a:avLst/>
          </a:prstGeom>
          <a:solidFill>
            <a:srgbClr val="F2F3F7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/>
            <a:r>
              <a:rPr sz="1600" b="1">
                <a:solidFill>
                  <a:srgbClr val="1B2A4A"/>
                </a:solidFill>
              </a:rPr>
              <a:t>C. MPC lineal</a:t>
            </a:r>
          </a:p>
          <a:p>
            <a:pPr>
              <a:spcBef>
                <a:spcPts val="1000"/>
              </a:spcBef>
            </a:pPr>
            <a:r>
              <a:rPr sz="1250">
                <a:solidFill>
                  <a:srgbClr val="333333"/>
                </a:solidFill>
              </a:rPr>
              <a:t>Horizonte deslizante, QP en forma
cerrada (batch). Restricciones de
par. Sin corrección de sesgo
paramétrico (no offset-free).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1554480"/>
            <a:ext cx="2697480" cy="4206240"/>
          </a:xfrm>
          <a:prstGeom prst="roundRect">
            <a:avLst/>
          </a:prstGeom>
          <a:solidFill>
            <a:srgbClr val="F2F3F7"/>
          </a:solidFill>
          <a:ln w="127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/>
            <a:r>
              <a:rPr sz="1600" b="1">
                <a:solidFill>
                  <a:srgbClr val="1B2A4A"/>
                </a:solidFill>
              </a:rPr>
              <a:t>D. Neuro-Difuso</a:t>
            </a:r>
          </a:p>
          <a:p>
            <a:pPr>
              <a:spcBef>
                <a:spcPts val="1000"/>
              </a:spcBef>
            </a:pPr>
            <a:r>
              <a:rPr sz="1250">
                <a:solidFill>
                  <a:srgbClr val="333333"/>
                </a:solidFill>
              </a:rPr>
              <a:t>Base gaussiana tipo Wang (1993).
Aproxima dinámica residual no
modelada. Ley de adaptación
derivada de Lyapunov.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  <a:latin typeface="Calibri"/>
              </a:rPr>
              <a:t>EKF: estimación robusta del torque de viento no medible</a:t>
            </a:r>
          </a:p>
        </p:txBody>
      </p:sp>
      <p:pic>
        <p:nvPicPr>
          <p:cNvPr id="4" name="Picture 3" descr="fig3_ekf_estimacion_vi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371600"/>
            <a:ext cx="9784080" cy="64775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92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</a:rPr>
              <a:t>5  ·  RMSE estimación: 2.14 N·m (acimut), 2.03 N·m (elevación)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  <a:latin typeface="Calibri"/>
              </a:rPr>
              <a:t>Resultado principal: error de apuntamiento comparado</a:t>
            </a:r>
          </a:p>
        </p:txBody>
      </p:sp>
      <p:pic>
        <p:nvPicPr>
          <p:cNvPr id="4" name="Picture 3" descr="fig1_error_comparati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10515600" cy="50922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92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  <a:latin typeface="Calibri"/>
              </a:rPr>
              <a:t>RMSE por fase sísmica</a:t>
            </a:r>
          </a:p>
        </p:txBody>
      </p:sp>
      <p:pic>
        <p:nvPicPr>
          <p:cNvPr id="4" name="Picture 3" descr="fig7_rmse_por_f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418320" cy="4654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92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  <a:latin typeface="Calibri"/>
              </a:rPr>
              <a:t>Métricas comparativas (60 s de simulación)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Controlador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RMSE total</a:t>
                      </a:r>
                    </a:p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[arcsec]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Máx. total</a:t>
                      </a:r>
                    </a:p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[arcsec]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Esfuerzo</a:t>
                      </a:r>
                    </a:p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∫τ²dt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Chattering</a:t>
                      </a:r>
                    </a:p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[N·m]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Cómputo/paso</a:t>
                      </a:r>
                    </a:p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[ms]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50" b="0"/>
                        <a:t>Adaptativo-Lyapunov+EKF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/>
                        <a:t>191.7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/>
                        <a:t>857.0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/>
                        <a:t>2090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/>
                        <a:t>198692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/>
                        <a:t>0.1620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50" b="0"/>
                        <a:t>SMC (Super-Twisting)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/>
                        <a:t>53.9</a:t>
                      </a:r>
                    </a:p>
                  </a:txBody>
                  <a:tcPr>
                    <a:solidFill>
                      <a:srgbClr val="E8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/>
                        <a:t>649.0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/>
                        <a:t>2217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/>
                        <a:t>213612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/>
                        <a:t>0.1148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50" b="0"/>
                        <a:t>MPC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/>
                        <a:t>318.7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/>
                        <a:t>767.8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/>
                        <a:t>2621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/>
                        <a:t>44912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/>
                        <a:t>0.0515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50" b="0"/>
                        <a:t>Neuro-Difuso Adaptativo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/>
                        <a:t>116.0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/>
                        <a:t>865.1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/>
                        <a:t>2083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/>
                        <a:t>197749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/>
                        <a:t>0.2777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29768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SMC (Super-Twisting): mejor RMSE total — robustez sin necesidad de convergencia paramétrica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MPC lineal: mayor error sostenido — no corrige el sesgo de parámetros nominales (no offset-free)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Las 4 leyes cumplen holgadamente el presupuesto de cómputo de un lazo a 1 kHz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  <a:latin typeface="Calibri"/>
              </a:rPr>
              <a:t>Convergencia paramétrica — ley Adaptativa-Lyapunov</a:t>
            </a:r>
          </a:p>
        </p:txBody>
      </p:sp>
      <p:pic>
        <p:nvPicPr>
          <p:cNvPr id="4" name="Picture 3" descr="fig4_convergencia_parametri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11247120" cy="22517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05156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mgl converge a su valor real en &lt; 20 s (regresor con excitación persistente fuerte, cos(q2))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J, b convergen mucho más lento — excitación persistente débil bajo referencia casi constante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  <a:latin typeface="Calibri"/>
              </a:rPr>
              <a:t>Hoja de ruta física: prototipo de banco de laboratorio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Base móvil (motores DC+encoder, ruedas, batería/BMS): ~US$550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Brazo robótico 2–3 GDL (actuadores, estructura, rodamientos): ~US$558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Carga útil óptica (láser + PSD/cámara de guiado): ~US$130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Sensórica (IMU, acelerómetro de base, encoders): ~US$75 (+US$300 opcional FOG)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Cómputo (MCU tiempo real 1 kHz + SBC): ~US$170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Banco de pruebas (shaker + ventiladores para sismo/viento sintéticos): ~US$260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COSTO TOTAL ESTIMADO: ~US$1 743 (base) / ~US$2 043 (con FOG)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  <a:latin typeface="Calibri"/>
              </a:rPr>
              <a:t>Arquitectura del prototipo: diagrama de bloques</a:t>
            </a:r>
          </a:p>
        </p:txBody>
      </p:sp>
      <p:pic>
        <p:nvPicPr>
          <p:cNvPr id="4" name="Picture 3" descr="fig9_diagrama_bloq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1371600"/>
            <a:ext cx="5657705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92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  <a:latin typeface="Calibri"/>
              </a:rPr>
              <a:t>Diseño mecánico y esquema eléctrico</a:t>
            </a:r>
          </a:p>
        </p:txBody>
      </p:sp>
      <p:pic>
        <p:nvPicPr>
          <p:cNvPr id="4" name="Picture 3" descr="fig11_layout_mecan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5371541" cy="4297680"/>
          </a:xfrm>
          <a:prstGeom prst="rect">
            <a:avLst/>
          </a:prstGeom>
        </p:spPr>
      </p:pic>
      <p:pic>
        <p:nvPicPr>
          <p:cNvPr id="5" name="Picture 4" descr="fig10_esquema_electri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554480"/>
            <a:ext cx="5217348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92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  <a:latin typeface="Calibri"/>
              </a:rPr>
              <a:t>Banco de pruebas: perturbaciones controladas</a:t>
            </a:r>
          </a:p>
        </p:txBody>
      </p:sp>
      <p:pic>
        <p:nvPicPr>
          <p:cNvPr id="4" name="Picture 3" descr="fig12_banco_prueb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296" y="1554480"/>
            <a:ext cx="7452624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92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  <a:latin typeface="Calibri"/>
              </a:rP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222222"/>
                </a:solidFill>
                <a:latin typeface="Calibri"/>
              </a:rPr>
              <a:t>SMC Super-Twisting: mayor robustez global frente a incertidumbre paramétrica sostenida y perturbación no modelada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22222"/>
                </a:solidFill>
                <a:latin typeface="Calibri"/>
              </a:rPr>
              <a:t>Adaptativo-Lyapunov y Neuro-Difuso: requieren convergencia inicial, luego igualan aprox. al SMC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22222"/>
                </a:solidFill>
                <a:latin typeface="Calibri"/>
              </a:rPr>
              <a:t>MPC lineal: limitado por ausencia de corrección de sesgo — candidato a mejora vía esquema offset-free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22222"/>
                </a:solidFill>
                <a:latin typeface="Calibri"/>
              </a:rPr>
              <a:t>EKF de fusión sensorial: estimación robusta del viento, válida como capa común independiente de la ley de control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222222"/>
                </a:solidFill>
                <a:latin typeface="Calibri"/>
              </a:rPr>
              <a:t>Próximo paso: validación física en el prototipo de banco de laboratorio propuesto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55555"/>
                </a:solidFill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